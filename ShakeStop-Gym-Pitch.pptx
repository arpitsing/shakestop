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F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ctagon 3"/>
          <p:cNvSpPr/>
          <p:nvPr/>
        </p:nvSpPr>
        <p:spPr>
          <a:xfrm>
            <a:off x="2514600" y="1691640"/>
            <a:ext cx="1554480" cy="1554480"/>
          </a:xfrm>
          <a:prstGeom prst="octagon">
            <a:avLst/>
          </a:prstGeom>
          <a:solidFill>
            <a:srgbClr val="5CF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027578" y="2273015"/>
            <a:ext cx="528523" cy="652881"/>
          </a:xfrm>
          <a:prstGeom prst="roundRect">
            <a:avLst/>
          </a:prstGeom>
          <a:solidFill>
            <a:srgbClr val="EBF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65399" y="2119122"/>
            <a:ext cx="652881" cy="170992"/>
          </a:xfrm>
          <a:prstGeom prst="roundRect">
            <a:avLst/>
          </a:prstGeom>
          <a:solidFill>
            <a:srgbClr val="EBF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27578" y="2488466"/>
            <a:ext cx="528523" cy="104461"/>
          </a:xfrm>
          <a:prstGeom prst="rect">
            <a:avLst/>
          </a:prstGeom>
          <a:solidFill>
            <a:srgbClr val="5CF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V="1">
            <a:off x="3447288" y="1998805"/>
            <a:ext cx="248716" cy="120317"/>
          </a:xfrm>
          <a:prstGeom prst="bentConnector3">
            <a:avLst/>
          </a:prstGeom>
          <a:ln w="259080">
            <a:solidFill>
              <a:srgbClr val="979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297680" y="214884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>
                <a:solidFill>
                  <a:srgbClr val="EBFFE8"/>
                </a:solidFill>
                <a:latin typeface="Segoe UI"/>
              </a:rPr>
              <a:t>Shake</a:t>
            </a:r>
            <a:r>
              <a:rPr sz="5400" b="1">
                <a:solidFill>
                  <a:srgbClr val="5CFF33"/>
                </a:solidFill>
                <a:latin typeface="Segoe UI"/>
              </a:rPr>
              <a:t>Stop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320040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9AB09A"/>
                </a:solidFill>
                <a:latin typeface="Segoe UI"/>
              </a:rPr>
              <a:t>FRESH PROTEIN · ANYTIME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1033272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EBFFE8"/>
                </a:solidFill>
                <a:latin typeface="Segoe UI"/>
              </a:rPr>
              <a:t>Fresh protein shakes, right inside your gym.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983480"/>
            <a:ext cx="94183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9AB09A"/>
                </a:solidFill>
                <a:latin typeface="Segoe UI"/>
              </a:rPr>
              <a:t>A zero-effort, revenue-sharing partnership proposal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0" y="5715000"/>
            <a:ext cx="3931920" cy="548640"/>
          </a:xfrm>
          <a:prstGeom prst="roundRect">
            <a:avLst/>
          </a:prstGeom>
          <a:noFill/>
          <a:ln w="15875">
            <a:solidFill>
              <a:srgbClr val="5CF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5779008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5CFF33"/>
                </a:solidFill>
                <a:latin typeface="Segoe UI"/>
              </a:rPr>
              <a:t>Prepared for  [ Gym Name 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5CFF33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EBFFE8"/>
                </a:solidFill>
                <a:latin typeface="Segoe UI"/>
              </a:rPr>
              <a:t>After a workout, protein is a hassle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9AB09A"/>
                </a:solidFill>
                <a:latin typeface="Segoe UI"/>
              </a:rPr>
              <a:t>Members finish training wanting protein — but every option today has friction.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68880"/>
            <a:ext cx="3611880" cy="2926080"/>
          </a:xfrm>
          <a:prstGeom prst="roundRect">
            <a:avLst/>
          </a:prstGeom>
          <a:solidFill>
            <a:srgbClr val="18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788920"/>
            <a:ext cx="36118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0">
                <a:solidFill>
                  <a:srgbClr val="EBFFE8"/>
                </a:solidFill>
                <a:latin typeface="Segoe UI"/>
              </a:rPr>
              <a:t>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03320"/>
            <a:ext cx="36118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5CFF33"/>
                </a:solidFill>
                <a:latin typeface="Segoe UI"/>
              </a:rPr>
              <a:t>Make it themselves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97680"/>
            <a:ext cx="315468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9AB09A"/>
                </a:solidFill>
                <a:latin typeface="Segoe UI"/>
              </a:rPr>
              <a:t>Carrying a shaker, powder and cleaning up is inconvenient.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468880"/>
            <a:ext cx="3611880" cy="2926080"/>
          </a:xfrm>
          <a:prstGeom prst="roundRect">
            <a:avLst/>
          </a:prstGeom>
          <a:solidFill>
            <a:srgbClr val="18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8920"/>
            <a:ext cx="36118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0">
                <a:solidFill>
                  <a:srgbClr val="EBFFE8"/>
                </a:solidFill>
                <a:latin typeface="Segoe UI"/>
              </a:rPr>
              <a:t>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3703320"/>
            <a:ext cx="36118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5CFF33"/>
                </a:solidFill>
                <a:latin typeface="Segoe UI"/>
              </a:rPr>
              <a:t>Buy a packaged drink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297680"/>
            <a:ext cx="315468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9AB09A"/>
                </a:solidFill>
                <a:latin typeface="Segoe UI"/>
              </a:rPr>
              <a:t>Expensive, full of preservatives, and not freshly made.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468880"/>
            <a:ext cx="3611880" cy="2926080"/>
          </a:xfrm>
          <a:prstGeom prst="roundRect">
            <a:avLst/>
          </a:prstGeom>
          <a:solidFill>
            <a:srgbClr val="18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2788920"/>
            <a:ext cx="36118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0">
                <a:solidFill>
                  <a:srgbClr val="EBFFE8"/>
                </a:solidFill>
                <a:latin typeface="Segoe UI"/>
              </a:rPr>
              <a:t>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3703320"/>
            <a:ext cx="36118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5CFF33"/>
                </a:solidFill>
                <a:latin typeface="Segoe UI"/>
              </a:rPr>
              <a:t>Leave the gym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4297680"/>
            <a:ext cx="315468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9AB09A"/>
                </a:solidFill>
                <a:latin typeface="Segoe UI"/>
              </a:rPr>
              <a:t>They walk out to find a shake — losing time and spending elsewhere.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66928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9792E3"/>
                </a:solidFill>
                <a:latin typeface="Segoe UI"/>
              </a:rPr>
              <a:t>The result: an unmet member need — and revenue walking out the door.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9AB09A"/>
                </a:solidFill>
                <a:latin typeface="Segoe UI"/>
              </a:rPr>
              <a:t>ShakeStop  ·  Gym Partnership Proposal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1">
                <a:solidFill>
                  <a:srgbClr val="9AB09A"/>
                </a:solidFill>
                <a:latin typeface="Segoe U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5CFF33"/>
                </a:solidFill>
                <a:latin typeface="Segoe U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EBFFE8"/>
                </a:solidFill>
                <a:latin typeface="Segoe UI"/>
              </a:rPr>
              <a:t>A protein-shake vending machine — inside your gym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6766560" cy="3291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EBFFE8"/>
                </a:solidFill>
                <a:latin typeface="Segoe UI"/>
              </a:rPr>
              <a:t>Members select a shake, pay digitally, and collect a </a:t>
            </a:r>
            <a:r>
              <a:rPr sz="1600" b="1">
                <a:solidFill>
                  <a:srgbClr val="5CFF33"/>
                </a:solidFill>
                <a:latin typeface="Segoe UI"/>
              </a:rPr>
              <a:t>freshly prepared</a:t>
            </a:r>
            <a:r>
              <a:rPr sz="1600" b="0">
                <a:solidFill>
                  <a:srgbClr val="EBFFE8"/>
                </a:solidFill>
                <a:latin typeface="Segoe UI"/>
              </a:rPr>
              <a:t> protein shake in minutes — without leaving the floor.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800" b="0">
                <a:solidFill>
                  <a:srgbClr val="9AB09A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9AB09A"/>
                </a:solidFill>
                <a:latin typeface="Segoe UI"/>
              </a:rPr>
              <a:t>• Freshly blended on demand — not a packaged drink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9AB09A"/>
                </a:solidFill>
                <a:latin typeface="Segoe UI"/>
              </a:rPr>
              <a:t>• Multiple flavours + custom shakes, milk or water base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9AB09A"/>
                </a:solidFill>
                <a:latin typeface="Segoe UI"/>
              </a:rPr>
              <a:t>• 100% digital payment (UPI / card / wallet)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9AB09A"/>
                </a:solidFill>
                <a:latin typeface="Segoe UI"/>
              </a:rPr>
              <a:t>• Hygienic, sealed ingredient canisters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9AB09A"/>
                </a:solidFill>
                <a:latin typeface="Segoe UI"/>
              </a:rPr>
              <a:t>• Compact footprint — fits in a corner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1737360"/>
            <a:ext cx="3291840" cy="4480560"/>
          </a:xfrm>
          <a:prstGeom prst="roundRect">
            <a:avLst/>
          </a:prstGeom>
          <a:solidFill>
            <a:srgbClr val="111A12"/>
          </a:solidFill>
          <a:ln w="15875">
            <a:solidFill>
              <a:srgbClr val="2B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046720" y="2011680"/>
            <a:ext cx="2743200" cy="502920"/>
          </a:xfrm>
          <a:prstGeom prst="roundRect">
            <a:avLst/>
          </a:prstGeom>
          <a:solidFill>
            <a:srgbClr val="5CF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2075688"/>
            <a:ext cx="27432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0B120C"/>
                </a:solidFill>
                <a:latin typeface="Segoe UI"/>
              </a:rPr>
              <a:t>ShakeStop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697480"/>
            <a:ext cx="2743200" cy="457200"/>
          </a:xfrm>
          <a:prstGeom prst="roundRect">
            <a:avLst/>
          </a:prstGeom>
          <a:solidFill>
            <a:srgbClr val="221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274320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900" b="1">
                <a:solidFill>
                  <a:srgbClr val="9AB09A"/>
                </a:solidFill>
                <a:latin typeface="Segoe UI"/>
              </a:rPr>
              <a:t>AD · Partner brands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3291840"/>
            <a:ext cx="2743200" cy="1554480"/>
          </a:xfrm>
          <a:prstGeom prst="roundRect">
            <a:avLst/>
          </a:prstGeom>
          <a:solidFill>
            <a:srgbClr val="0A1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338328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00" b="1">
                <a:solidFill>
                  <a:srgbClr val="5CFF33"/>
                </a:solidFill>
                <a:latin typeface="Segoe UI"/>
              </a:rPr>
              <a:t>TOUCH TO ORDER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703320"/>
            <a:ext cx="274320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0">
                <a:solidFill>
                  <a:srgbClr val="EBFFE8"/>
                </a:solidFill>
                <a:latin typeface="Segoe UI"/>
              </a:rPr>
              <a:t>🍫  🍓  🍦  ☕  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4983480"/>
            <a:ext cx="2743200" cy="960120"/>
          </a:xfrm>
          <a:prstGeom prst="roundRect">
            <a:avLst/>
          </a:prstGeom>
          <a:solidFill>
            <a:srgbClr val="17110A"/>
          </a:solidFill>
          <a:ln w="12700">
            <a:solidFill>
              <a:srgbClr val="AFFC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53492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AFFC41"/>
                </a:solidFill>
                <a:latin typeface="Segoe UI"/>
              </a:rPr>
              <a:t>🥤  Collect your shake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9AB09A"/>
                </a:solidFill>
                <a:latin typeface="Segoe UI"/>
              </a:rPr>
              <a:t>ShakeStop  ·  Gym Partnership Proposal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1">
                <a:solidFill>
                  <a:srgbClr val="9AB09A"/>
                </a:solidFill>
                <a:latin typeface="Segoe U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5CFF33"/>
                </a:solidFill>
                <a:latin typeface="Segoe UI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EBFFE8"/>
                </a:solidFill>
                <a:latin typeface="Segoe UI"/>
              </a:rPr>
              <a:t>From tap to sip in under 2 minutes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2651760" cy="2743200"/>
          </a:xfrm>
          <a:prstGeom prst="roundRect">
            <a:avLst/>
          </a:prstGeom>
          <a:solidFill>
            <a:srgbClr val="18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560320"/>
            <a:ext cx="685800" cy="685800"/>
          </a:xfrm>
          <a:prstGeom prst="ellipse">
            <a:avLst/>
          </a:prstGeom>
          <a:solidFill>
            <a:srgbClr val="5CF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>
                <a:solidFill>
                  <a:srgbClr val="0B120C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42900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>
                <a:solidFill>
                  <a:srgbClr val="EBFFE8"/>
                </a:solidFill>
                <a:latin typeface="Segoe UI"/>
              </a:rPr>
              <a:t>Select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86200"/>
            <a:ext cx="219456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9AB09A"/>
                </a:solidFill>
                <a:latin typeface="Segoe UI"/>
              </a:rPr>
              <a:t>Member picks a flavour or builds a custom shake on the touchscreen.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3383280"/>
            <a:ext cx="3657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5CFF3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286000"/>
            <a:ext cx="2651760" cy="2743200"/>
          </a:xfrm>
          <a:prstGeom prst="roundRect">
            <a:avLst/>
          </a:prstGeom>
          <a:solidFill>
            <a:srgbClr val="18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703320" y="2560320"/>
            <a:ext cx="685800" cy="685800"/>
          </a:xfrm>
          <a:prstGeom prst="ellipse">
            <a:avLst/>
          </a:prstGeom>
          <a:solidFill>
            <a:srgbClr val="5CF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>
                <a:solidFill>
                  <a:srgbClr val="0B120C"/>
                </a:solidFill>
                <a:latin typeface="Sego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42900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>
                <a:solidFill>
                  <a:srgbClr val="EBFFE8"/>
                </a:solidFill>
                <a:latin typeface="Segoe UI"/>
              </a:rPr>
              <a:t>Pay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886200"/>
            <a:ext cx="219456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9AB09A"/>
                </a:solidFill>
                <a:latin typeface="Segoe UI"/>
              </a:rPr>
              <a:t>Instant digital payment — UPI, card or wallet. No cash, no queue.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3383280"/>
            <a:ext cx="3657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5CFF33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2286000"/>
            <a:ext cx="2651760" cy="2743200"/>
          </a:xfrm>
          <a:prstGeom prst="roundRect">
            <a:avLst/>
          </a:prstGeom>
          <a:solidFill>
            <a:srgbClr val="18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83680" y="2560320"/>
            <a:ext cx="685800" cy="685800"/>
          </a:xfrm>
          <a:prstGeom prst="ellipse">
            <a:avLst/>
          </a:prstGeom>
          <a:solidFill>
            <a:srgbClr val="5CF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>
                <a:solidFill>
                  <a:srgbClr val="0B120C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42900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>
                <a:solidFill>
                  <a:srgbClr val="EBFFE8"/>
                </a:solidFill>
                <a:latin typeface="Segoe UI"/>
              </a:rPr>
              <a:t>Blend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886200"/>
            <a:ext cx="219456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9AB09A"/>
                </a:solidFill>
                <a:latin typeface="Segoe UI"/>
              </a:rPr>
              <a:t>The machine freshly blends the shake from sealed ingredients.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383280"/>
            <a:ext cx="3657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5CFF33"/>
                </a:solidFill>
                <a:latin typeface="Segoe UI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2286000"/>
            <a:ext cx="2651760" cy="2743200"/>
          </a:xfrm>
          <a:prstGeom prst="roundRect">
            <a:avLst/>
          </a:prstGeom>
          <a:solidFill>
            <a:srgbClr val="18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464040" y="2560320"/>
            <a:ext cx="685800" cy="685800"/>
          </a:xfrm>
          <a:prstGeom prst="ellipse">
            <a:avLst/>
          </a:prstGeom>
          <a:solidFill>
            <a:srgbClr val="5CF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>
                <a:solidFill>
                  <a:srgbClr val="0B120C"/>
                </a:solidFill>
                <a:latin typeface="Sego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342900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>
                <a:solidFill>
                  <a:srgbClr val="EBFFE8"/>
                </a:solidFill>
                <a:latin typeface="Segoe UI"/>
              </a:rPr>
              <a:t>Collect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3886200"/>
            <a:ext cx="219456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9AB09A"/>
                </a:solidFill>
                <a:latin typeface="Segoe UI"/>
              </a:rPr>
              <a:t>A fresh protein shake is dispensed in minutes. Done.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9AB09A"/>
                </a:solidFill>
                <a:latin typeface="Segoe UI"/>
              </a:rPr>
              <a:t>ShakeStop  ·  Gym Partnership Proposal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1">
                <a:solidFill>
                  <a:srgbClr val="9AB09A"/>
                </a:solidFill>
                <a:latin typeface="Segoe U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5CFF33"/>
                </a:solidFill>
                <a:latin typeface="Segoe UI"/>
              </a:rPr>
              <a:t>THE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EBFFE8"/>
                </a:solidFill>
                <a:latin typeface="Segoe UI"/>
              </a:rPr>
              <a:t>Smart, hygienic, and built for gyms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3611880" cy="1417320"/>
          </a:xfrm>
          <a:prstGeom prst="roundRect">
            <a:avLst/>
          </a:prstGeom>
          <a:solidFill>
            <a:srgbClr val="18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7315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0">
                <a:solidFill>
                  <a:srgbClr val="EBFFE8"/>
                </a:solidFill>
                <a:latin typeface="Segoe UI"/>
              </a:rPr>
              <a:t>🖥️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130552"/>
            <a:ext cx="25146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5CFF33"/>
                </a:solidFill>
                <a:latin typeface="Segoe UI"/>
              </a:rPr>
              <a:t>Two displays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532888"/>
            <a:ext cx="25146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9AB09A"/>
                </a:solidFill>
                <a:latin typeface="Segoe UI"/>
              </a:rPr>
              <a:t>One for ordering, one for ads &amp; promotions.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965960"/>
            <a:ext cx="3611880" cy="1417320"/>
          </a:xfrm>
          <a:prstGeom prst="roundRect">
            <a:avLst/>
          </a:prstGeom>
          <a:solidFill>
            <a:srgbClr val="18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148840"/>
            <a:ext cx="7315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0">
                <a:solidFill>
                  <a:srgbClr val="EBFFE8"/>
                </a:solidFill>
                <a:latin typeface="Segoe UI"/>
              </a:rPr>
              <a:t>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130552"/>
            <a:ext cx="25146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5CFF33"/>
                </a:solidFill>
                <a:latin typeface="Segoe UI"/>
              </a:rPr>
              <a:t>8 sealed canisters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532888"/>
            <a:ext cx="25146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9AB09A"/>
                </a:solidFill>
                <a:latin typeface="Segoe UI"/>
              </a:rPr>
              <a:t>3 protein flavours + milk, water, coffee, pre-workout, creatine.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965960"/>
            <a:ext cx="3611880" cy="1417320"/>
          </a:xfrm>
          <a:prstGeom prst="roundRect">
            <a:avLst/>
          </a:prstGeom>
          <a:solidFill>
            <a:srgbClr val="18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2148840"/>
            <a:ext cx="7315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0">
                <a:solidFill>
                  <a:srgbClr val="EBFFE8"/>
                </a:solidFill>
                <a:latin typeface="Segoe UI"/>
              </a:rPr>
              <a:t>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8280" y="2130552"/>
            <a:ext cx="25146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5CFF33"/>
                </a:solidFill>
                <a:latin typeface="Segoe UI"/>
              </a:rPr>
              <a:t>Fresh, custom shakes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2532888"/>
            <a:ext cx="25146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9AB09A"/>
                </a:solidFill>
                <a:latin typeface="Segoe UI"/>
              </a:rPr>
              <a:t>Choose base (milk/water), add boosts, or build your own.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611880"/>
            <a:ext cx="3611880" cy="1417320"/>
          </a:xfrm>
          <a:prstGeom prst="roundRect">
            <a:avLst/>
          </a:prstGeom>
          <a:solidFill>
            <a:srgbClr val="18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794760"/>
            <a:ext cx="7315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0">
                <a:solidFill>
                  <a:srgbClr val="EBFFE8"/>
                </a:solidFill>
                <a:latin typeface="Segoe UI"/>
              </a:rPr>
              <a:t>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3776472"/>
            <a:ext cx="25146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5CFF33"/>
                </a:solidFill>
                <a:latin typeface="Segoe UI"/>
              </a:rPr>
              <a:t>100% digital payments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178808"/>
            <a:ext cx="25146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9AB09A"/>
                </a:solidFill>
                <a:latin typeface="Segoe UI"/>
              </a:rPr>
              <a:t>UPI / card / wallet — fully cashless &amp; tracked.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3611880"/>
            <a:ext cx="3611880" cy="1417320"/>
          </a:xfrm>
          <a:prstGeom prst="roundRect">
            <a:avLst/>
          </a:prstGeom>
          <a:solidFill>
            <a:srgbClr val="18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3794760"/>
            <a:ext cx="7315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0">
                <a:solidFill>
                  <a:srgbClr val="EBFFE8"/>
                </a:solidFill>
                <a:latin typeface="Segoe UI"/>
              </a:rPr>
              <a:t>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3776472"/>
            <a:ext cx="25146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5CFF33"/>
                </a:solidFill>
                <a:latin typeface="Segoe UI"/>
              </a:rPr>
              <a:t>Hygienic by design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4178808"/>
            <a:ext cx="25146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9AB09A"/>
                </a:solidFill>
                <a:latin typeface="Segoe UI"/>
              </a:rPr>
              <a:t>Sealed ingredients, auto-dosing, easy-clean dispensing bay.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3611880"/>
            <a:ext cx="3611880" cy="1417320"/>
          </a:xfrm>
          <a:prstGeom prst="roundRect">
            <a:avLst/>
          </a:prstGeom>
          <a:solidFill>
            <a:srgbClr val="18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60" y="3794760"/>
            <a:ext cx="7315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0">
                <a:solidFill>
                  <a:srgbClr val="EBFFE8"/>
                </a:solidFill>
                <a:latin typeface="Segoe UI"/>
              </a:rPr>
              <a:t>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8280" y="3776472"/>
            <a:ext cx="25146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5CFF33"/>
                </a:solidFill>
                <a:latin typeface="Segoe UI"/>
              </a:rPr>
              <a:t>Smart &amp; connected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8280" y="4178808"/>
            <a:ext cx="25146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9AB09A"/>
                </a:solidFill>
                <a:latin typeface="Segoe UI"/>
              </a:rPr>
              <a:t>Remote monitoring of stock, sales and health.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2578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9AB09A"/>
                </a:solidFill>
                <a:latin typeface="Segoe UI"/>
              </a:rPr>
              <a:t>See the live interactive prototype:  </a:t>
            </a:r>
            <a:r>
              <a:rPr sz="1300" b="1">
                <a:solidFill>
                  <a:srgbClr val="5CFF33"/>
                </a:solidFill>
                <a:latin typeface="Segoe UI"/>
              </a:rPr>
              <a:t>arpitsing.github.io/shakestop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9AB09A"/>
                </a:solidFill>
                <a:latin typeface="Segoe UI"/>
              </a:rPr>
              <a:t>ShakeStop  ·  Gym Partnership Proposal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1">
                <a:solidFill>
                  <a:srgbClr val="9AB09A"/>
                </a:solidFill>
                <a:latin typeface="Segoe U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5CFF33"/>
                </a:solidFill>
                <a:latin typeface="Segoe UI"/>
              </a:rPr>
              <a:t>EFFORT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EBFFE8"/>
                </a:solidFill>
                <a:latin typeface="Segoe UI"/>
              </a:rPr>
              <a:t>Virtually zero work for your team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5532120" cy="4023360"/>
          </a:xfrm>
          <a:prstGeom prst="roundRect">
            <a:avLst/>
          </a:prstGeom>
          <a:solidFill>
            <a:srgbClr val="18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5CFF33"/>
                </a:solidFill>
                <a:latin typeface="Segoe UI"/>
              </a:rPr>
              <a:t>✅  We handle everything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4937760" cy="3108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>
                <a:solidFill>
                  <a:srgbClr val="EBFFE8"/>
                </a:solidFill>
                <a:latin typeface="Segoe UI"/>
              </a:rPr>
              <a:t>• Machine supply &amp; installation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>
                <a:solidFill>
                  <a:srgbClr val="EBFFE8"/>
                </a:solidFill>
                <a:latin typeface="Segoe UI"/>
              </a:rPr>
              <a:t>• All ingredients (authentic whey)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>
                <a:solidFill>
                  <a:srgbClr val="EBFFE8"/>
                </a:solidFill>
                <a:latin typeface="Segoe UI"/>
              </a:rPr>
              <a:t>• Refilling &amp; stock management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>
                <a:solidFill>
                  <a:srgbClr val="EBFFE8"/>
                </a:solidFill>
                <a:latin typeface="Segoe UI"/>
              </a:rPr>
              <a:t>• Daily cleaning &amp; sanitisation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>
                <a:solidFill>
                  <a:srgbClr val="EBFFE8"/>
                </a:solidFill>
                <a:latin typeface="Segoe UI"/>
              </a:rPr>
              <a:t>• Servicing, repairs &amp; uptime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>
                <a:solidFill>
                  <a:srgbClr val="EBFFE8"/>
                </a:solidFill>
                <a:latin typeface="Segoe UI"/>
              </a:rPr>
              <a:t>• Payments, pricing &amp; support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>
                <a:solidFill>
                  <a:srgbClr val="EBFFE8"/>
                </a:solidFill>
                <a:latin typeface="Segoe UI"/>
              </a:rPr>
              <a:t>• Menu, branding &amp; promotions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920240"/>
            <a:ext cx="5349240" cy="4023360"/>
          </a:xfrm>
          <a:prstGeom prst="roundRect">
            <a:avLst/>
          </a:prstGeom>
          <a:solidFill>
            <a:srgbClr val="111A12"/>
          </a:solidFill>
          <a:ln w="12700">
            <a:solidFill>
              <a:srgbClr val="2B3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2148840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9792E3"/>
                </a:solidFill>
                <a:latin typeface="Segoe UI"/>
              </a:rPr>
              <a:t>🤝  Gym simply provides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475488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400" b="0">
                <a:solidFill>
                  <a:srgbClr val="EBFFE8"/>
                </a:solidFill>
                <a:latin typeface="Segoe UI"/>
              </a:rPr>
              <a:t>• A small floor space (approx. 1 m²)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400" b="0">
                <a:solidFill>
                  <a:srgbClr val="EBFFE8"/>
                </a:solidFill>
                <a:latin typeface="Segoe UI"/>
              </a:rPr>
              <a:t>• A standard power socket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400" b="0">
                <a:solidFill>
                  <a:srgbClr val="EBFFE8"/>
                </a:solidFill>
                <a:latin typeface="Segoe UI"/>
              </a:rPr>
              <a:t>• Wi-Fi (optional, for live monitoring)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617720"/>
            <a:ext cx="475488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9AB09A"/>
                </a:solidFill>
                <a:latin typeface="Segoe UI"/>
              </a:rPr>
              <a:t>No café to set up. No staff to hire. No inventory to manage. No capital investment.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9AB09A"/>
                </a:solidFill>
                <a:latin typeface="Segoe UI"/>
              </a:rPr>
              <a:t>ShakeStop  ·  Gym Partnership Proposal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1">
                <a:solidFill>
                  <a:srgbClr val="9AB09A"/>
                </a:solidFill>
                <a:latin typeface="Segoe U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5CFF33"/>
                </a:solidFill>
                <a:latin typeface="Segoe UI"/>
              </a:rPr>
              <a:t>REVENUE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EBFFE8"/>
                </a:solidFill>
                <a:latin typeface="Segoe UI"/>
              </a:rPr>
              <a:t>You earn </a:t>
            </a:r>
            <a:r>
              <a:rPr sz="2800" b="1">
                <a:solidFill>
                  <a:srgbClr val="5CFF33"/>
                </a:solidFill>
                <a:latin typeface="Segoe UI"/>
              </a:rPr>
              <a:t>4% of every sale</a:t>
            </a:r>
            <a:r>
              <a:rPr sz="2800" b="1">
                <a:solidFill>
                  <a:srgbClr val="EBFFE8"/>
                </a:solidFill>
                <a:latin typeface="Segoe UI"/>
              </a:rPr>
              <a:t> — as pure passive income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9AB09A"/>
                </a:solidFill>
                <a:latin typeface="Segoe UI"/>
              </a:rPr>
              <a:t>No investment, no cost, no risk. We install and run it; you earn a share of gross sales, paid monthly.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651760"/>
            <a:ext cx="2377440" cy="2377440"/>
          </a:xfrm>
          <a:prstGeom prst="ellipse">
            <a:avLst/>
          </a:prstGeom>
          <a:solidFill>
            <a:srgbClr val="5CF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0" b="1">
                <a:solidFill>
                  <a:srgbClr val="0B120C"/>
                </a:solidFill>
                <a:latin typeface="Segoe UI"/>
              </a:rPr>
              <a:t>4%</a:t>
            </a:r>
          </a:p>
          <a:p>
            <a:pPr algn="ctr"/>
            <a:r>
              <a:rPr sz="1300" b="1">
                <a:solidFill>
                  <a:srgbClr val="0B120C"/>
                </a:solidFill>
                <a:latin typeface="Segoe UI"/>
              </a:rPr>
              <a:t>of gross sales to the gym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194560"/>
            <a:ext cx="7863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9AB09A"/>
                </a:solidFill>
                <a:latin typeface="Segoe UI"/>
              </a:rPr>
              <a:t>Illustrative monthly earnings (example only)</a:t>
            </a:r>
          </a:p>
        </p:txBody>
      </p:sp>
      <p:sp>
        <p:nvSpPr>
          <p:cNvPr id="8" name="Rectangle 7"/>
          <p:cNvSpPr/>
          <p:nvPr/>
        </p:nvSpPr>
        <p:spPr>
          <a:xfrm>
            <a:off x="3749039" y="2514600"/>
            <a:ext cx="1737360" cy="713232"/>
          </a:xfrm>
          <a:prstGeom prst="rect">
            <a:avLst/>
          </a:prstGeom>
          <a:solidFill>
            <a:srgbClr val="9792E3"/>
          </a:solidFill>
          <a:ln w="9525">
            <a:solidFill>
              <a:srgbClr val="0B12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39" y="2660904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EBFFE8"/>
                </a:solidFill>
                <a:latin typeface="Segoe UI"/>
              </a:rPr>
              <a:t>Scenario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399" y="2514600"/>
            <a:ext cx="1463040" cy="713232"/>
          </a:xfrm>
          <a:prstGeom prst="rect">
            <a:avLst/>
          </a:prstGeom>
          <a:solidFill>
            <a:srgbClr val="9792E3"/>
          </a:solidFill>
          <a:ln w="9525">
            <a:solidFill>
              <a:srgbClr val="0B12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399" y="2660904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EBFFE8"/>
                </a:solidFill>
                <a:latin typeface="Segoe UI"/>
              </a:rPr>
              <a:t>Shakes / day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49439" y="2514600"/>
            <a:ext cx="1280160" cy="713232"/>
          </a:xfrm>
          <a:prstGeom prst="rect">
            <a:avLst/>
          </a:prstGeom>
          <a:solidFill>
            <a:srgbClr val="9792E3"/>
          </a:solidFill>
          <a:ln w="9525">
            <a:solidFill>
              <a:srgbClr val="0B12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39" y="2660904"/>
            <a:ext cx="12801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EBFFE8"/>
                </a:solidFill>
                <a:latin typeface="Segoe UI"/>
              </a:rPr>
              <a:t>Avg price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599" y="2514600"/>
            <a:ext cx="1737360" cy="713232"/>
          </a:xfrm>
          <a:prstGeom prst="rect">
            <a:avLst/>
          </a:prstGeom>
          <a:solidFill>
            <a:srgbClr val="9792E3"/>
          </a:solidFill>
          <a:ln w="9525">
            <a:solidFill>
              <a:srgbClr val="0B12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9" y="2660904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EBFFE8"/>
                </a:solidFill>
                <a:latin typeface="Segoe UI"/>
              </a:rPr>
              <a:t>Monthly sales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66959" y="2514600"/>
            <a:ext cx="1645920" cy="713232"/>
          </a:xfrm>
          <a:prstGeom prst="rect">
            <a:avLst/>
          </a:prstGeom>
          <a:solidFill>
            <a:srgbClr val="9792E3"/>
          </a:solidFill>
          <a:ln w="9525">
            <a:solidFill>
              <a:srgbClr val="0B12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59" y="2660904"/>
            <a:ext cx="1645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EBFFE8"/>
                </a:solidFill>
                <a:latin typeface="Segoe UI"/>
              </a:rPr>
              <a:t>Gym 4% / month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39" y="3227832"/>
            <a:ext cx="1737360" cy="713232"/>
          </a:xfrm>
          <a:prstGeom prst="rect">
            <a:avLst/>
          </a:prstGeom>
          <a:solidFill>
            <a:srgbClr val="111A12"/>
          </a:solidFill>
          <a:ln w="9525">
            <a:solidFill>
              <a:srgbClr val="0B12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49039" y="3374136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50" b="1">
                <a:solidFill>
                  <a:srgbClr val="EBFFE8"/>
                </a:solidFill>
                <a:latin typeface="Segoe UI"/>
              </a:rPr>
              <a:t>Conservative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399" y="3227832"/>
            <a:ext cx="1463040" cy="713232"/>
          </a:xfrm>
          <a:prstGeom prst="rect">
            <a:avLst/>
          </a:prstGeom>
          <a:solidFill>
            <a:srgbClr val="111A12"/>
          </a:solidFill>
          <a:ln w="9525">
            <a:solidFill>
              <a:srgbClr val="0B12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399" y="3374136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EBFFE8"/>
                </a:solidFill>
                <a:latin typeface="Segoe UI"/>
              </a:rPr>
              <a:t>30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49439" y="3227832"/>
            <a:ext cx="1280160" cy="713232"/>
          </a:xfrm>
          <a:prstGeom prst="rect">
            <a:avLst/>
          </a:prstGeom>
          <a:solidFill>
            <a:srgbClr val="111A12"/>
          </a:solidFill>
          <a:ln w="9525">
            <a:solidFill>
              <a:srgbClr val="0B12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39" y="3374136"/>
            <a:ext cx="12801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EBFFE8"/>
                </a:solidFill>
                <a:latin typeface="Segoe UI"/>
              </a:rPr>
              <a:t>₹120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599" y="3227832"/>
            <a:ext cx="1737360" cy="713232"/>
          </a:xfrm>
          <a:prstGeom prst="rect">
            <a:avLst/>
          </a:prstGeom>
          <a:solidFill>
            <a:srgbClr val="111A12"/>
          </a:solidFill>
          <a:ln w="9525">
            <a:solidFill>
              <a:srgbClr val="0B12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599" y="3374136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EBFFE8"/>
                </a:solidFill>
                <a:latin typeface="Segoe UI"/>
              </a:rPr>
              <a:t>₹1,08,000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66959" y="3227832"/>
            <a:ext cx="1645920" cy="713232"/>
          </a:xfrm>
          <a:prstGeom prst="rect">
            <a:avLst/>
          </a:prstGeom>
          <a:solidFill>
            <a:srgbClr val="111A12"/>
          </a:solidFill>
          <a:ln w="9525">
            <a:solidFill>
              <a:srgbClr val="0B12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66959" y="3374136"/>
            <a:ext cx="1645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50" b="1">
                <a:solidFill>
                  <a:srgbClr val="5CFF33"/>
                </a:solidFill>
                <a:latin typeface="Segoe UI"/>
              </a:rPr>
              <a:t>₹4,320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49039" y="3941064"/>
            <a:ext cx="1737360" cy="713232"/>
          </a:xfrm>
          <a:prstGeom prst="rect">
            <a:avLst/>
          </a:prstGeom>
          <a:solidFill>
            <a:srgbClr val="182418"/>
          </a:solidFill>
          <a:ln w="9525">
            <a:solidFill>
              <a:srgbClr val="0B12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49039" y="4087368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50" b="1">
                <a:solidFill>
                  <a:srgbClr val="EBFFE8"/>
                </a:solidFill>
                <a:latin typeface="Segoe UI"/>
              </a:rPr>
              <a:t>Moderate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399" y="3941064"/>
            <a:ext cx="1463040" cy="713232"/>
          </a:xfrm>
          <a:prstGeom prst="rect">
            <a:avLst/>
          </a:prstGeom>
          <a:solidFill>
            <a:srgbClr val="182418"/>
          </a:solidFill>
          <a:ln w="9525">
            <a:solidFill>
              <a:srgbClr val="0B12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399" y="4087368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EBFFE8"/>
                </a:solidFill>
                <a:latin typeface="Segoe UI"/>
              </a:rPr>
              <a:t>50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39" y="3941064"/>
            <a:ext cx="1280160" cy="713232"/>
          </a:xfrm>
          <a:prstGeom prst="rect">
            <a:avLst/>
          </a:prstGeom>
          <a:solidFill>
            <a:srgbClr val="182418"/>
          </a:solidFill>
          <a:ln w="9525">
            <a:solidFill>
              <a:srgbClr val="0B12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39" y="4087368"/>
            <a:ext cx="12801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EBFFE8"/>
                </a:solidFill>
                <a:latin typeface="Segoe UI"/>
              </a:rPr>
              <a:t>₹120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599" y="3941064"/>
            <a:ext cx="1737360" cy="713232"/>
          </a:xfrm>
          <a:prstGeom prst="rect">
            <a:avLst/>
          </a:prstGeom>
          <a:solidFill>
            <a:srgbClr val="182418"/>
          </a:solidFill>
          <a:ln w="9525">
            <a:solidFill>
              <a:srgbClr val="0B12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9" y="4087368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EBFFE8"/>
                </a:solidFill>
                <a:latin typeface="Segoe UI"/>
              </a:rPr>
              <a:t>₹1,80,000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966959" y="3941064"/>
            <a:ext cx="1645920" cy="713232"/>
          </a:xfrm>
          <a:prstGeom prst="rect">
            <a:avLst/>
          </a:prstGeom>
          <a:solidFill>
            <a:srgbClr val="182418"/>
          </a:solidFill>
          <a:ln w="9525">
            <a:solidFill>
              <a:srgbClr val="0B12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66959" y="4087368"/>
            <a:ext cx="1645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50" b="1">
                <a:solidFill>
                  <a:srgbClr val="5CFF33"/>
                </a:solidFill>
                <a:latin typeface="Segoe UI"/>
              </a:rPr>
              <a:t>₹7,200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749039" y="4654296"/>
            <a:ext cx="1737360" cy="713232"/>
          </a:xfrm>
          <a:prstGeom prst="rect">
            <a:avLst/>
          </a:prstGeom>
          <a:solidFill>
            <a:srgbClr val="111A12"/>
          </a:solidFill>
          <a:ln w="9525">
            <a:solidFill>
              <a:srgbClr val="0B12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749039" y="480060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50" b="1">
                <a:solidFill>
                  <a:srgbClr val="EBFFE8"/>
                </a:solidFill>
                <a:latin typeface="Segoe UI"/>
              </a:rPr>
              <a:t>Busy gym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399" y="4654296"/>
            <a:ext cx="1463040" cy="713232"/>
          </a:xfrm>
          <a:prstGeom prst="rect">
            <a:avLst/>
          </a:prstGeom>
          <a:solidFill>
            <a:srgbClr val="111A12"/>
          </a:solidFill>
          <a:ln w="9525">
            <a:solidFill>
              <a:srgbClr val="0B12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399" y="48006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EBFFE8"/>
                </a:solidFill>
                <a:latin typeface="Segoe UI"/>
              </a:rPr>
              <a:t>80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949439" y="4654296"/>
            <a:ext cx="1280160" cy="713232"/>
          </a:xfrm>
          <a:prstGeom prst="rect">
            <a:avLst/>
          </a:prstGeom>
          <a:solidFill>
            <a:srgbClr val="111A12"/>
          </a:solidFill>
          <a:ln w="9525">
            <a:solidFill>
              <a:srgbClr val="0B12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49439" y="4800600"/>
            <a:ext cx="12801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EBFFE8"/>
                </a:solidFill>
                <a:latin typeface="Segoe UI"/>
              </a:rPr>
              <a:t>₹120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599" y="4654296"/>
            <a:ext cx="1737360" cy="713232"/>
          </a:xfrm>
          <a:prstGeom prst="rect">
            <a:avLst/>
          </a:prstGeom>
          <a:solidFill>
            <a:srgbClr val="111A12"/>
          </a:solidFill>
          <a:ln w="9525">
            <a:solidFill>
              <a:srgbClr val="0B12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9599" y="480060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EBFFE8"/>
                </a:solidFill>
                <a:latin typeface="Segoe UI"/>
              </a:rPr>
              <a:t>₹2,88,000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966959" y="4654296"/>
            <a:ext cx="1645920" cy="713232"/>
          </a:xfrm>
          <a:prstGeom prst="rect">
            <a:avLst/>
          </a:prstGeom>
          <a:solidFill>
            <a:srgbClr val="111A12"/>
          </a:solidFill>
          <a:ln w="9525">
            <a:solidFill>
              <a:srgbClr val="0B12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966959" y="4800600"/>
            <a:ext cx="1645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50" b="1">
                <a:solidFill>
                  <a:srgbClr val="5CFF33"/>
                </a:solidFill>
                <a:latin typeface="Segoe UI"/>
              </a:rPr>
              <a:t>₹11,520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49039" y="5413248"/>
            <a:ext cx="7863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>
                <a:solidFill>
                  <a:srgbClr val="9AB09A"/>
                </a:solidFill>
                <a:latin typeface="Segoe UI"/>
              </a:rPr>
              <a:t>Figures are illustrative estimates; actuals depend on footfall &amp; menu. Paid monthly with a transparent sales dashboard.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9AB09A"/>
                </a:solidFill>
                <a:latin typeface="Segoe UI"/>
              </a:rPr>
              <a:t>ShakeStop  ·  Gym Partnership Proposal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1">
                <a:solidFill>
                  <a:srgbClr val="9AB09A"/>
                </a:solidFill>
                <a:latin typeface="Segoe U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5CFF33"/>
                </a:solidFill>
                <a:latin typeface="Segoe UI"/>
              </a:rPr>
              <a:t>WHY PARTNER WITH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EBFFE8"/>
                </a:solidFill>
                <a:latin typeface="Segoe UI"/>
              </a:rPr>
              <a:t>A win for the gym, and for members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3611880" cy="1463040"/>
          </a:xfrm>
          <a:prstGeom prst="roundRect">
            <a:avLst/>
          </a:prstGeom>
          <a:solidFill>
            <a:srgbClr val="18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67128"/>
            <a:ext cx="7315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0">
                <a:solidFill>
                  <a:srgbClr val="EBFFE8"/>
                </a:solidFill>
                <a:latin typeface="Segoe UI"/>
              </a:rPr>
              <a:t>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148840"/>
            <a:ext cx="2514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>
                <a:solidFill>
                  <a:srgbClr val="5CFF33"/>
                </a:solidFill>
                <a:latin typeface="Segoe UI"/>
              </a:rPr>
              <a:t>New passive income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587752"/>
            <a:ext cx="25146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9AB09A"/>
                </a:solidFill>
                <a:latin typeface="Segoe UI"/>
              </a:rPr>
              <a:t>A fresh revenue stream with zero investment or effort.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965960"/>
            <a:ext cx="3611880" cy="1463040"/>
          </a:xfrm>
          <a:prstGeom prst="roundRect">
            <a:avLst/>
          </a:prstGeom>
          <a:solidFill>
            <a:srgbClr val="18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167128"/>
            <a:ext cx="7315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0">
                <a:solidFill>
                  <a:srgbClr val="EBFFE8"/>
                </a:solidFill>
                <a:latin typeface="Segoe UI"/>
              </a:rPr>
              <a:t>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2148840"/>
            <a:ext cx="2514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>
                <a:solidFill>
                  <a:srgbClr val="5CFF33"/>
                </a:solidFill>
                <a:latin typeface="Segoe UI"/>
              </a:rPr>
              <a:t>Better member experience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2587752"/>
            <a:ext cx="25146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9AB09A"/>
                </a:solidFill>
                <a:latin typeface="Segoe UI"/>
              </a:rPr>
              <a:t>A premium, modern amenity members love — boosts retention.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965960"/>
            <a:ext cx="3611880" cy="1463040"/>
          </a:xfrm>
          <a:prstGeom prst="roundRect">
            <a:avLst/>
          </a:prstGeom>
          <a:solidFill>
            <a:srgbClr val="18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2167128"/>
            <a:ext cx="7315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0">
                <a:solidFill>
                  <a:srgbClr val="EBFFE8"/>
                </a:solidFill>
                <a:latin typeface="Segoe UI"/>
              </a:rPr>
              <a:t>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2148840"/>
            <a:ext cx="2514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>
                <a:solidFill>
                  <a:srgbClr val="5CFF33"/>
                </a:solidFill>
                <a:latin typeface="Segoe UI"/>
              </a:rPr>
              <a:t>Competitive edge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2587752"/>
            <a:ext cx="25146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9AB09A"/>
                </a:solidFill>
                <a:latin typeface="Segoe UI"/>
              </a:rPr>
              <a:t>Stand out from nearby gyms with an in-house shake bar.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685032"/>
            <a:ext cx="3611880" cy="1463040"/>
          </a:xfrm>
          <a:prstGeom prst="roundRect">
            <a:avLst/>
          </a:prstGeom>
          <a:solidFill>
            <a:srgbClr val="18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886200"/>
            <a:ext cx="7315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0">
                <a:solidFill>
                  <a:srgbClr val="EBFFE8"/>
                </a:solidFill>
                <a:latin typeface="Segoe UI"/>
              </a:rPr>
              <a:t>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867912"/>
            <a:ext cx="2514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>
                <a:solidFill>
                  <a:srgbClr val="5CFF33"/>
                </a:solidFill>
                <a:latin typeface="Segoe UI"/>
              </a:rPr>
              <a:t>No overheads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306824"/>
            <a:ext cx="25146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9AB09A"/>
                </a:solidFill>
                <a:latin typeface="Segoe UI"/>
              </a:rPr>
              <a:t>No staff, no inventory, no maintenance costs on you.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3685032"/>
            <a:ext cx="3611880" cy="1463040"/>
          </a:xfrm>
          <a:prstGeom prst="roundRect">
            <a:avLst/>
          </a:prstGeom>
          <a:solidFill>
            <a:srgbClr val="18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3886200"/>
            <a:ext cx="7315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0">
                <a:solidFill>
                  <a:srgbClr val="EBFFE8"/>
                </a:solidFill>
                <a:latin typeface="Segoe UI"/>
              </a:rPr>
              <a:t>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7800" y="3867912"/>
            <a:ext cx="2514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>
                <a:solidFill>
                  <a:srgbClr val="5CFF33"/>
                </a:solidFill>
                <a:latin typeface="Segoe UI"/>
              </a:rPr>
              <a:t>Full transparency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4306824"/>
            <a:ext cx="25146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9AB09A"/>
                </a:solidFill>
                <a:latin typeface="Segoe UI"/>
              </a:rPr>
              <a:t>Live dashboard of sales and your monthly share.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3685032"/>
            <a:ext cx="3611880" cy="1463040"/>
          </a:xfrm>
          <a:prstGeom prst="roundRect">
            <a:avLst/>
          </a:prstGeom>
          <a:solidFill>
            <a:srgbClr val="18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60" y="3886200"/>
            <a:ext cx="7315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0">
                <a:solidFill>
                  <a:srgbClr val="EBFFE8"/>
                </a:solidFill>
                <a:latin typeface="Segoe UI"/>
              </a:rPr>
              <a:t>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0" y="3867912"/>
            <a:ext cx="2514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>
                <a:solidFill>
                  <a:srgbClr val="5CFF33"/>
                </a:solidFill>
                <a:latin typeface="Segoe UI"/>
              </a:rPr>
              <a:t>Flexible &amp; risk-free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4306824"/>
            <a:ext cx="25146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9AB09A"/>
                </a:solidFill>
                <a:latin typeface="Segoe UI"/>
              </a:rPr>
              <a:t>Simple agreement; we can remove the machine anytime.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9AB09A"/>
                </a:solidFill>
                <a:latin typeface="Segoe UI"/>
              </a:rPr>
              <a:t>ShakeStop  ·  Gym Partnership Proposal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1">
                <a:solidFill>
                  <a:srgbClr val="9AB09A"/>
                </a:solidFill>
                <a:latin typeface="Segoe U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5CFF33"/>
                </a:solidFill>
                <a:latin typeface="Segoe UI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EBFFE8"/>
                </a:solidFill>
                <a:latin typeface="Segoe UI"/>
              </a:rPr>
              <a:t>Let's run a 30-day 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9AB09A"/>
                </a:solidFill>
                <a:latin typeface="Segoe UI"/>
              </a:rPr>
              <a:t>Simple, fast, and risk-free — see the results before committing.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68880"/>
            <a:ext cx="2651760" cy="2377440"/>
          </a:xfrm>
          <a:prstGeom prst="roundRect">
            <a:avLst/>
          </a:prstGeom>
          <a:solidFill>
            <a:srgbClr val="18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468880"/>
            <a:ext cx="2651760" cy="109728"/>
          </a:xfrm>
          <a:prstGeom prst="rect">
            <a:avLst/>
          </a:prstGeom>
          <a:solidFill>
            <a:srgbClr val="5CF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9144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5CFF33"/>
                </a:solidFill>
                <a:latin typeface="Segoe UI"/>
              </a:rPr>
              <a:t>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5468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EBFFE8"/>
                </a:solidFill>
                <a:latin typeface="Segoe UI"/>
              </a:rPr>
              <a:t>Site visit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657600"/>
            <a:ext cx="219456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9AB09A"/>
                </a:solidFill>
                <a:latin typeface="Segoe UI"/>
              </a:rPr>
              <a:t>We pick the best spot &amp; confirm power/space.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2468880"/>
            <a:ext cx="2651760" cy="2377440"/>
          </a:xfrm>
          <a:prstGeom prst="roundRect">
            <a:avLst/>
          </a:prstGeom>
          <a:solidFill>
            <a:srgbClr val="18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29000" y="2468880"/>
            <a:ext cx="2651760" cy="109728"/>
          </a:xfrm>
          <a:prstGeom prst="rect">
            <a:avLst/>
          </a:prstGeom>
          <a:solidFill>
            <a:srgbClr val="5CF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2743200"/>
            <a:ext cx="9144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5CFF33"/>
                </a:solidFill>
                <a:latin typeface="Segoe UI"/>
              </a:rPr>
              <a:t>Step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15468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EBFFE8"/>
                </a:solidFill>
                <a:latin typeface="Segoe UI"/>
              </a:rPr>
              <a:t>Install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657600"/>
            <a:ext cx="219456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9AB09A"/>
                </a:solidFill>
                <a:latin typeface="Segoe UI"/>
              </a:rPr>
              <a:t>Machine delivered, installed &amp; stocked — free.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468880"/>
            <a:ext cx="2651760" cy="2377440"/>
          </a:xfrm>
          <a:prstGeom prst="roundRect">
            <a:avLst/>
          </a:prstGeom>
          <a:solidFill>
            <a:srgbClr val="18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2468880"/>
            <a:ext cx="2651760" cy="109728"/>
          </a:xfrm>
          <a:prstGeom prst="rect">
            <a:avLst/>
          </a:prstGeom>
          <a:solidFill>
            <a:srgbClr val="5CF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743200"/>
            <a:ext cx="9144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5CFF33"/>
                </a:solidFill>
                <a:latin typeface="Segoe UI"/>
              </a:rPr>
              <a:t>Step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15468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EBFFE8"/>
                </a:solidFill>
                <a:latin typeface="Segoe UI"/>
              </a:rPr>
              <a:t>Go live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657600"/>
            <a:ext cx="219456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9AB09A"/>
                </a:solidFill>
                <a:latin typeface="Segoe UI"/>
              </a:rPr>
              <a:t>Members start ordering; you start earning 4%.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20" y="2468880"/>
            <a:ext cx="2651760" cy="2377440"/>
          </a:xfrm>
          <a:prstGeom prst="roundRect">
            <a:avLst/>
          </a:prstGeom>
          <a:solidFill>
            <a:srgbClr val="18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89720" y="2468880"/>
            <a:ext cx="2651760" cy="109728"/>
          </a:xfrm>
          <a:prstGeom prst="rect">
            <a:avLst/>
          </a:prstGeom>
          <a:solidFill>
            <a:srgbClr val="5CF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0" y="2743200"/>
            <a:ext cx="9144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5CFF33"/>
                </a:solidFill>
                <a:latin typeface="Segoe UI"/>
              </a:rPr>
              <a:t>Step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315468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EBFFE8"/>
                </a:solidFill>
                <a:latin typeface="Segoe UI"/>
              </a:rPr>
              <a:t>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3657600"/>
            <a:ext cx="219456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9AB09A"/>
                </a:solidFill>
                <a:latin typeface="Segoe UI"/>
              </a:rPr>
              <a:t>After 30 days, review sales together &amp; scale up.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9AB09A"/>
                </a:solidFill>
                <a:latin typeface="Segoe UI"/>
              </a:rPr>
              <a:t>ShakeStop  ·  Gym Partnership Proposal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1">
                <a:solidFill>
                  <a:srgbClr val="9AB09A"/>
                </a:solidFill>
                <a:latin typeface="Segoe U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F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ctagon 3"/>
          <p:cNvSpPr/>
          <p:nvPr/>
        </p:nvSpPr>
        <p:spPr>
          <a:xfrm>
            <a:off x="5312664" y="1325880"/>
            <a:ext cx="1554480" cy="1554480"/>
          </a:xfrm>
          <a:prstGeom prst="octagon">
            <a:avLst/>
          </a:prstGeom>
          <a:solidFill>
            <a:srgbClr val="5CF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825642" y="1907255"/>
            <a:ext cx="528523" cy="652881"/>
          </a:xfrm>
          <a:prstGeom prst="roundRect">
            <a:avLst/>
          </a:prstGeom>
          <a:solidFill>
            <a:srgbClr val="EBF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763463" y="1753362"/>
            <a:ext cx="652881" cy="170992"/>
          </a:xfrm>
          <a:prstGeom prst="roundRect">
            <a:avLst/>
          </a:prstGeom>
          <a:solidFill>
            <a:srgbClr val="EBF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825642" y="2122706"/>
            <a:ext cx="528523" cy="104461"/>
          </a:xfrm>
          <a:prstGeom prst="rect">
            <a:avLst/>
          </a:prstGeom>
          <a:solidFill>
            <a:srgbClr val="5CF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V="1">
            <a:off x="6245352" y="1633045"/>
            <a:ext cx="248716" cy="120317"/>
          </a:xfrm>
          <a:prstGeom prst="bentConnector3">
            <a:avLst/>
          </a:prstGeom>
          <a:ln w="259080">
            <a:solidFill>
              <a:srgbClr val="979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3017520"/>
            <a:ext cx="1033272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EBFFE8"/>
                </a:solidFill>
                <a:latin typeface="Segoe UI"/>
              </a:rPr>
              <a:t>Shake</a:t>
            </a:r>
            <a:r>
              <a:rPr sz="4000" b="1">
                <a:solidFill>
                  <a:srgbClr val="5CFF33"/>
                </a:solidFill>
                <a:latin typeface="Segoe UI"/>
              </a:rPr>
              <a:t>Stop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94760"/>
            <a:ext cx="103327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9AB09A"/>
                </a:solidFill>
                <a:latin typeface="Segoe UI"/>
              </a:rPr>
              <a:t>Fresh protein for your members. Passive income for your gym.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754880"/>
            <a:ext cx="1033272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5CFF33"/>
                </a:solidFill>
                <a:latin typeface="Segoe UI"/>
              </a:rPr>
              <a:t>Let's talk</a:t>
            </a:r>
          </a:p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EBFFE8"/>
                </a:solidFill>
                <a:latin typeface="Segoe UI"/>
              </a:rPr>
              <a:t>Riya Singla   ·   9779337982   ·   singlariya2406@gmail.com</a:t>
            </a:r>
          </a:p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AB09A"/>
                </a:solidFill>
                <a:latin typeface="Segoe UI"/>
              </a:rPr>
              <a:t>Live demo:  arpitsing.github.io/shakestop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9AB09A"/>
                </a:solidFill>
                <a:latin typeface="Segoe UI"/>
              </a:rPr>
              <a:t>ShakeStop  ·  Gym Partnership Proposal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0972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1">
                <a:solidFill>
                  <a:srgbClr val="9AB09A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